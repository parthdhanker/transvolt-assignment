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2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2286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2880" y="1188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Summary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527048"/>
            <a:ext cx="228600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66420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ACCURACY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82880" y="18288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9.34%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82880" y="24505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WAPE  •  8-week horizon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2880" y="268833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~43 units off per week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avg. weekly demand of ~459 units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" y="331012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 •  LightGBM direct multi-step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2880" y="3566160"/>
            <a:ext cx="2377440" cy="201168"/>
          </a:xfrm>
          <a:prstGeom prst="roundRect">
            <a:avLst>
              <a:gd name="adj" fmla="val 22727"/>
            </a:avLst>
          </a:prstGeom>
          <a:solidFill>
            <a:srgbClr val="263A6A"/>
          </a:solidFill>
          <a:ln w="12700">
            <a:solidFill>
              <a:srgbClr val="263A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" y="3575304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 (52w)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2880" y="3808476"/>
            <a:ext cx="2377440" cy="201168"/>
          </a:xfrm>
          <a:prstGeom prst="roundRect">
            <a:avLst>
              <a:gd name="adj" fmla="val 22727"/>
            </a:avLst>
          </a:prstGeom>
          <a:solidFill>
            <a:srgbClr val="263A6A"/>
          </a:solidFill>
          <a:ln w="12700">
            <a:solidFill>
              <a:srgbClr val="263A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" y="3817620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averages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82880" y="4050792"/>
            <a:ext cx="2377440" cy="201168"/>
          </a:xfrm>
          <a:prstGeom prst="roundRect">
            <a:avLst>
              <a:gd name="adj" fmla="val 22727"/>
            </a:avLst>
          </a:prstGeom>
          <a:solidFill>
            <a:srgbClr val="263A6A"/>
          </a:solidFill>
          <a:ln w="12700">
            <a:solidFill>
              <a:srgbClr val="263A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" y="4059936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timing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2880" y="4293108"/>
            <a:ext cx="2377440" cy="201168"/>
          </a:xfrm>
          <a:prstGeom prst="roundRect">
            <a:avLst>
              <a:gd name="adj" fmla="val 22727"/>
            </a:avLst>
          </a:prstGeom>
          <a:solidFill>
            <a:srgbClr val="263A6A"/>
          </a:solidFill>
          <a:ln w="12700">
            <a:solidFill>
              <a:srgbClr val="263A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" y="4302252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effects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82880" y="4535424"/>
            <a:ext cx="2377440" cy="201168"/>
          </a:xfrm>
          <a:prstGeom prst="roundRect">
            <a:avLst>
              <a:gd name="adj" fmla="val 22727"/>
            </a:avLst>
          </a:prstGeom>
          <a:solidFill>
            <a:srgbClr val="263A6A"/>
          </a:solidFill>
          <a:ln w="12700">
            <a:solidFill>
              <a:srgbClr val="263A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" y="4544568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&amp; market ID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017520" y="16459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DEMAND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017520" y="411480"/>
            <a:ext cx="1124712" cy="987552"/>
          </a:xfrm>
          <a:prstGeom prst="roundRect">
            <a:avLst>
              <a:gd name="adj" fmla="val 7407"/>
            </a:avLst>
          </a:prstGeom>
          <a:solidFill>
            <a:srgbClr val="253361"/>
          </a:solidFill>
          <a:ln w="12700">
            <a:solidFill>
              <a:srgbClr val="253361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090672" y="475488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44952" y="585216"/>
            <a:ext cx="1069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044952" y="758952"/>
            <a:ext cx="1069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+12–16%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44952" y="1005840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on promo weeks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187952" y="411480"/>
            <a:ext cx="1124712" cy="987552"/>
          </a:xfrm>
          <a:prstGeom prst="roundRect">
            <a:avLst>
              <a:gd name="adj" fmla="val 7407"/>
            </a:avLst>
          </a:prstGeom>
          <a:solidFill>
            <a:srgbClr val="253361"/>
          </a:solidFill>
          <a:ln w="12700">
            <a:solidFill>
              <a:srgbClr val="253361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61104" y="475488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15384" y="585216"/>
            <a:ext cx="1069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Mix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215384" y="758952"/>
            <a:ext cx="1069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Organic Milk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15384" y="1005840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volume SKU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358384" y="411480"/>
            <a:ext cx="1124712" cy="987552"/>
          </a:xfrm>
          <a:prstGeom prst="roundRect">
            <a:avLst>
              <a:gd name="adj" fmla="val 7407"/>
            </a:avLst>
          </a:prstGeom>
          <a:solidFill>
            <a:srgbClr val="253361"/>
          </a:solidFill>
          <a:ln w="12700">
            <a:solidFill>
              <a:srgbClr val="253361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31536" y="475488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85816" y="585216"/>
            <a:ext cx="1069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385816" y="758952"/>
            <a:ext cx="1069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DailyNeeds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85816" y="1005840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GreenBasket volume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528816" y="411480"/>
            <a:ext cx="1124712" cy="987552"/>
          </a:xfrm>
          <a:prstGeom prst="roundRect">
            <a:avLst>
              <a:gd name="adj" fmla="val 7407"/>
            </a:avLst>
          </a:prstGeom>
          <a:solidFill>
            <a:srgbClr val="253361"/>
          </a:solidFill>
          <a:ln w="12700">
            <a:solidFill>
              <a:srgbClr val="253361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601968" y="475488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56248" y="585216"/>
            <a:ext cx="1069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556248" y="758952"/>
            <a:ext cx="1069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556248" y="1005840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peaks differ by SKU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699248" y="411480"/>
            <a:ext cx="1124712" cy="987552"/>
          </a:xfrm>
          <a:prstGeom prst="roundRect">
            <a:avLst>
              <a:gd name="adj" fmla="val 7407"/>
            </a:avLst>
          </a:prstGeom>
          <a:solidFill>
            <a:srgbClr val="253361"/>
          </a:solidFill>
          <a:ln w="12700">
            <a:solidFill>
              <a:srgbClr val="253361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772400" y="475488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26680" y="585216"/>
            <a:ext cx="1069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Trend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726680" y="758952"/>
            <a:ext cx="1069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Mixed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726680" y="1005840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up, some flat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017520" y="1517904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017520" y="1764792"/>
            <a:ext cx="2916936" cy="1600200"/>
          </a:xfrm>
          <a:prstGeom prst="roundRect">
            <a:avLst>
              <a:gd name="adj" fmla="val 5714"/>
            </a:avLst>
          </a:prstGeom>
          <a:solidFill>
            <a:srgbClr val="253361"/>
          </a:solidFill>
          <a:ln w="12700">
            <a:solidFill>
              <a:srgbClr val="253361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3154680" y="1874520"/>
            <a:ext cx="2734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Stock-outs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3154680" y="2203704"/>
            <a:ext cx="27157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stock of ~1 week covers most forecast error
</a:t>
            </a:r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weeks flagged ahead → pre-position inventory
</a:t>
            </a:r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 weeks identified → reduce legacy over-ordering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044184" y="1764792"/>
            <a:ext cx="2916936" cy="1600200"/>
          </a:xfrm>
          <a:prstGeom prst="roundRect">
            <a:avLst>
              <a:gd name="adj" fmla="val 5714"/>
            </a:avLst>
          </a:prstGeom>
          <a:solidFill>
            <a:srgbClr val="253361"/>
          </a:solidFill>
          <a:ln w="12700">
            <a:solidFill>
              <a:srgbClr val="253361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181344" y="1874520"/>
            <a:ext cx="2734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 Write-offs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181344" y="2203704"/>
            <a:ext cx="27157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Over-ordering risk highest on low-volume series (e.g. Free Range Eggs at smaller markets)
</a:t>
            </a:r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horizon enables just-in-time replenishment vs. bulk forward-buying
</a:t>
            </a:r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Trough periods visible 2 months out → reduce inventory proactively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017520" y="3456432"/>
            <a:ext cx="5943600" cy="658368"/>
          </a:xfrm>
          <a:prstGeom prst="roundRect">
            <a:avLst>
              <a:gd name="adj" fmla="val 1111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0" y="3529584"/>
            <a:ext cx="5623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</a:t>
            </a:r>
            <a:pPr indent="0" marL="0">
              <a:buNone/>
            </a:pPr>
            <a:r>
              <a:rPr lang="en-US" sz="1050" dirty="0">
                <a:solidFill>
                  <a:srgbClr val="0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1.15× confidence buffer in weekly replenishment  ·  Promo reorder flagged at +12% baseline  ·  Monthly SKU×Market drift review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2026-06-27T15:15:16Z</dcterms:created>
  <dcterms:modified xsi:type="dcterms:W3CDTF">2026-06-27T15:15:16Z</dcterms:modified>
</cp:coreProperties>
</file>